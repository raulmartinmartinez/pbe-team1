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5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7099200" cy="1023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2"/>
          </p:nvPr>
        </p:nvSpPr>
        <p:spPr>
          <a:xfrm>
            <a:off x="4022640" y="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991800" y="766440"/>
            <a:ext cx="5119560" cy="38401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edit the notes format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3"/>
          </p:nvPr>
        </p:nvSpPr>
        <p:spPr>
          <a:xfrm>
            <a:off x="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4"/>
          </p:nvPr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  <a:defRPr lang="es-ES_tradnl" sz="13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13607830-63C6-4817-AC32-04DB740849E6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6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3 Marcador de número de diapositiva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1253050D-BD8B-4D7E-AD8D-FA0DCC3E507A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0AEF5765-BAF5-4067-9BE4-F679A2E5281B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A784E720-0173-4DF9-A3C6-71860748751E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B1EF23FA-1030-4098-9333-24CEF840A5D7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EE733199-EB88-42F5-97DA-A6224067085E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766763"/>
            <a:ext cx="5119688" cy="3840162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7"/>
          <p:cNvSpPr/>
          <p:nvPr/>
        </p:nvSpPr>
        <p:spPr>
          <a:xfrm>
            <a:off x="4022640" y="9721800"/>
            <a:ext cx="3076560" cy="5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5400" tIns="47880" rIns="95400" bIns="4788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55800" algn="l"/>
                <a:tab pos="1911240" algn="l"/>
                <a:tab pos="2867040" algn="l"/>
                <a:tab pos="3822840" algn="l"/>
                <a:tab pos="4778280" algn="l"/>
                <a:tab pos="5734080" algn="l"/>
                <a:tab pos="6689880" algn="l"/>
                <a:tab pos="7645320" algn="l"/>
                <a:tab pos="8601120" algn="l"/>
                <a:tab pos="9556920" algn="l"/>
                <a:tab pos="10512360" algn="l"/>
              </a:tabLst>
            </a:pPr>
            <a:fld id="{DF9F2825-7CDF-4D37-8AD1-83085B7683B9}" type="slidenum">
              <a:rPr lang="es-ES_tradnl" sz="13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6800"/>
            <a:ext cx="5119560" cy="3840120"/>
          </a:xfrm>
          <a:prstGeom prst="rect">
            <a:avLst/>
          </a:prstGeom>
          <a:ln w="0">
            <a:noFill/>
          </a:ln>
        </p:spPr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946080" y="4862160"/>
            <a:ext cx="5207040" cy="46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B55B71D-F6D7-4778-A095-5731DDEF32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848800" cy="8618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53800" y="1115640"/>
            <a:ext cx="8700840" cy="52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700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179920" y="6513120"/>
            <a:ext cx="963720" cy="3286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s-E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38035E-2D85-4CC1-A76E-7C4A7FF39AC0}" type="slidenum">
              <a:rPr lang="es-ES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Line 8"/>
          <p:cNvSpPr/>
          <p:nvPr/>
        </p:nvSpPr>
        <p:spPr>
          <a:xfrm>
            <a:off x="0" y="874800"/>
            <a:ext cx="9144000" cy="0"/>
          </a:xfrm>
          <a:prstGeom prst="line">
            <a:avLst/>
          </a:prstGeom>
          <a:ln w="38160">
            <a:solidFill>
              <a:srgbClr val="F71A0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6 Marcador de texto"/>
          <p:cNvSpPr/>
          <p:nvPr/>
        </p:nvSpPr>
        <p:spPr>
          <a:xfrm>
            <a:off x="2890800" y="6513480"/>
            <a:ext cx="3597480" cy="3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s-ES" sz="1200" b="1" strike="noStrike" spc="-1">
                <a:solidFill>
                  <a:srgbClr val="000000"/>
                </a:solidFill>
                <a:latin typeface="Arial"/>
              </a:rPr>
              <a:t>PBE. Projecte Bàsic d’Enginyeria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8 Conector recto"/>
          <p:cNvSpPr/>
          <p:nvPr/>
        </p:nvSpPr>
        <p:spPr>
          <a:xfrm>
            <a:off x="0" y="6469200"/>
            <a:ext cx="9144000" cy="0"/>
          </a:xfrm>
          <a:prstGeom prst="line">
            <a:avLst/>
          </a:prstGeom>
          <a:ln w="12600">
            <a:solidFill>
              <a:srgbClr val="FF66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4481640" y="-182520"/>
            <a:ext cx="152280" cy="15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Picture 10"/>
          <p:cNvPicPr/>
          <p:nvPr/>
        </p:nvPicPr>
        <p:blipFill>
          <a:blip r:embed="rId3"/>
          <a:stretch/>
        </p:blipFill>
        <p:spPr>
          <a:xfrm>
            <a:off x="307800" y="6496200"/>
            <a:ext cx="1444680" cy="31896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2"/>
          <p:cNvPicPr/>
          <p:nvPr/>
        </p:nvPicPr>
        <p:blipFill>
          <a:blip r:embed="rId4"/>
          <a:stretch/>
        </p:blipFill>
        <p:spPr>
          <a:xfrm>
            <a:off x="163440" y="71280"/>
            <a:ext cx="1457280" cy="7527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5DB229-997B-45D0-8459-2287C29159DC}" type="slidenum">
              <a:rPr lang="es-ES" sz="14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Text Box 4"/>
          <p:cNvSpPr/>
          <p:nvPr/>
        </p:nvSpPr>
        <p:spPr>
          <a:xfrm>
            <a:off x="592200" y="258840"/>
            <a:ext cx="848052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Progress Report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"/>
          <p:cNvSpPr/>
          <p:nvPr/>
        </p:nvSpPr>
        <p:spPr>
          <a:xfrm>
            <a:off x="90360" y="1996920"/>
            <a:ext cx="8622000" cy="283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Progress Report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Sitka Display Semibold"/>
              </a:rPr>
              <a:t>Team 1 – Remote Biomedical Monitoring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Group G12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Sitka Display Semibold"/>
              </a:rPr>
              <a:t>21/10/2026 · Week 5</a:t>
            </a:r>
            <a:endParaRPr lang="en-US" sz="3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AF66E0-0F31-422B-91C9-3687E58BC20D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Project Overview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1417320"/>
          <a:ext cx="7914132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89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W14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WP0 Mgmt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WP1 LoRaWAN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WP2 BITalino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WP3 ECG proc.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WP4 Platform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WP5 Integration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0000"/>
                          </a:solidFill>
                          <a:latin typeface="Arial"/>
                        </a:rPr>
                        <a:t>D1/D2</a:t>
                      </a:r>
                    </a:p>
                  </a:txBody>
                  <a:tcPr marL="36576" marR="36576" marT="18288" marB="18288"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Down Arrow 22"/>
          <p:cNvSpPr/>
          <p:nvPr/>
        </p:nvSpPr>
        <p:spPr>
          <a:xfrm>
            <a:off x="2434590" y="987552"/>
            <a:ext cx="219456" cy="384048"/>
          </a:xfrm>
          <a:prstGeom prst="downArrow">
            <a:avLst/>
          </a:prstGeom>
          <a:solidFill>
            <a:srgbClr val="BBE0E3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657600"/>
            <a:ext cx="164592" cy="146304"/>
          </a:xfrm>
          <a:prstGeom prst="rect">
            <a:avLst/>
          </a:prstGeom>
          <a:solidFill>
            <a:srgbClr val="4EA72E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" y="3657600"/>
            <a:ext cx="164592" cy="146304"/>
          </a:xfrm>
          <a:prstGeom prst="rect">
            <a:avLst/>
          </a:prstGeom>
          <a:solidFill>
            <a:srgbClr val="CCFFCC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71016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2536" y="3593592"/>
            <a:ext cx="292608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>
                <a:solidFill>
                  <a:srgbClr val="595959"/>
                </a:solidFill>
                <a:latin typeface="Arial"/>
              </a:rPr>
              <a:t>B1/B2/B3 = block deliverables, D1/D2 =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977639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 u="sng" dirty="0">
                <a:solidFill>
                  <a:srgbClr val="000000"/>
                </a:solidFill>
                <a:latin typeface="Arial"/>
              </a:rPr>
              <a:t>Issues: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00000"/>
                </a:solidFill>
                <a:latin typeface="Arial"/>
              </a:rPr>
              <a:t>WP1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: 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On schedule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. Network set-up in TTS completed (gateway + end device registered). Uplink/downlink tests start in W6 as planned.</a:t>
            </a:r>
          </a:p>
          <a:p>
            <a:pPr marL="685800" indent="-228600">
              <a:spcBef>
                <a:spcPts val="800"/>
              </a:spcBef>
              <a:buClr>
                <a:srgbClr val="FF0000"/>
              </a:buClr>
              <a:buFont typeface="Arial"/>
              <a:buChar char="•"/>
            </a:pPr>
            <a:r>
              <a:rPr sz="1600" b="1" dirty="0">
                <a:solidFill>
                  <a:srgbClr val="FF0000"/>
                </a:solidFill>
                <a:latin typeface="Arial"/>
              </a:rPr>
              <a:t>Watch point – B1 (03/11)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: 8 of 10 tasks are concentrated in W6 and depend on the first uplink. Task 1 done; Task 4 advanced this week. </a:t>
            </a:r>
            <a:r>
              <a:rPr sz="1600" b="1" dirty="0">
                <a:solidFill>
                  <a:srgbClr val="000000"/>
                </a:solidFill>
                <a:latin typeface="Arial"/>
              </a:rPr>
              <a:t>No WP extension expected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DC365E5-8161-4B29-924A-E80E7440B508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Achievements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" y="1051560"/>
            <a:ext cx="39776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Project plan &amp; system design delivered (W4)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6 work packages, Gantt W4–W14, responsibles assigned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LoRaWAN network set up in TTS (Task 2)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The Things Stack Cloud, cluster eu1 (eu1.cloud.thethings.network)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Application created: pbe-team1-2026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End device registered: pbe-team1-arduino (Arduino MKR WAN 1310)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TTIG gateway registered and connected to TTS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000000"/>
                </a:solidFill>
                <a:latin typeface="Arial"/>
              </a:rPr>
              <a:t>✔ LoRaWAN architecture diagram (Task 1)</a:t>
            </a:r>
          </a:p>
          <a:p>
            <a:pPr marL="685800" indent="-228600">
              <a:spcBef>
                <a:spcPts val="40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Arial"/>
              </a:rPr>
              <a:t>End device, gateway, network and application server identified</a:t>
            </a:r>
          </a:p>
        </p:txBody>
      </p:sp>
      <p:pic>
        <p:nvPicPr>
          <p:cNvPr id="32" name="Picture 31" descr="tas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3794760" cy="20990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3400" y="35319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0" i="1">
                <a:solidFill>
                  <a:srgbClr val="595959"/>
                </a:solidFill>
                <a:latin typeface="Arial"/>
              </a:rPr>
              <a:t>Task 1 – Deployed LoRaWAN network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5DF3148-FA47-4892-9A2F-5EFC15B73520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Blocked actions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No blocked actions this week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Gateway and end device are registered and connected in TTS; the network is ready for the first uplink</a:t>
            </a:r>
          </a:p>
          <a:p>
            <a:pPr>
              <a:spcBef>
                <a:spcPts val="18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Critical path: first uplink (Task 3)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Tasks 3–10 of B1 (uplink, ACKs, performance tests, downlink) depend on it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Task 1 (architecture diagram) done; Task 4 (payload formatter, testable with emulated bytes in TTS) advanced in parallel</a:t>
            </a:r>
          </a:p>
          <a:p>
            <a:pPr>
              <a:spcBef>
                <a:spcPts val="1800"/>
              </a:spcBef>
            </a:pPr>
            <a:r>
              <a:rPr sz="1600" b="1">
                <a:solidFill>
                  <a:srgbClr val="FF0000"/>
                </a:solidFill>
                <a:latin typeface="Arial"/>
              </a:rPr>
              <a:t>Risk</a:t>
            </a:r>
            <a:r>
              <a:rPr sz="1600" b="0">
                <a:solidFill>
                  <a:srgbClr val="000000"/>
                </a:solidFill>
                <a:latin typeface="Arial"/>
              </a:rPr>
              <a:t>: range and SF tests (Tasks 6–7) may need extra sessions outside lab hours in W6.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3B32FCD-4DF7-473C-ACE5-1BBC5E5350E7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Planned Action Points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380264"/>
              </p:ext>
            </p:extLst>
          </p:nvPr>
        </p:nvGraphicFramePr>
        <p:xfrm>
          <a:off x="228600" y="1097280"/>
          <a:ext cx="7498080" cy="3663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AP#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WP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Resp.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End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Depends on</a:t>
                      </a:r>
                    </a:p>
                  </a:txBody>
                  <a:tcPr marL="36576" marR="36576" marT="18288" marB="18288" anchor="ctr"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Pol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Register TTIG gateway and MKR WAN 1310 in TTS (Task 2 screenshots)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36576" marR="36576" marT="18288" marB="18288"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Bruno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Diagram of the deployed LoRaWAN system (Task 1)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Starting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Ares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First uplink from MKR WAN 1310, ACKs, export JSON logs (Task 3)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Joan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Custom payload formatter decodeUplink (Task 4)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>
                          <a:solidFill>
                            <a:srgbClr val="000000"/>
                          </a:solidFill>
                          <a:latin typeface="Arial"/>
                        </a:rPr>
                        <a:t>Raúl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Performance analysis: redundancy, range, SF, conclusions (Tasks 5–8)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AP3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Pol, Bruno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Sensor-block emulation and downlink tests (Tasks 9–10)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AP3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Assemble B1 deliverable: PPT, JSON logs, LogsOutline.txt, GitHub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 (03/11)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AP1–AP6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Prepare Raspberry Pi 4 and BITalino Bluetooth link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AP9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Running</a:t>
                      </a:r>
                    </a:p>
                  </a:txBody>
                  <a:tcPr marL="36576" marR="36576" marT="18288" marB="18288" anchor="ctr"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WP0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Weekly progress reports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W14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4 Marcador de número de diapositiva"/>
          <p:cNvSpPr/>
          <p:nvPr/>
        </p:nvSpPr>
        <p:spPr>
          <a:xfrm>
            <a:off x="8180280" y="6513480"/>
            <a:ext cx="9637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2E48771-D2B7-42F8-8274-A09C806C7281}" type="slidenum">
              <a:rPr lang="es-ES" sz="1400" b="1" strike="noStrike" spc="-1">
                <a:solidFill>
                  <a:srgbClr val="000000"/>
                </a:solidFill>
                <a:latin typeface="Arial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Text Box 4"/>
          <p:cNvSpPr/>
          <p:nvPr/>
        </p:nvSpPr>
        <p:spPr>
          <a:xfrm>
            <a:off x="382680" y="258840"/>
            <a:ext cx="848016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</a:rPr>
              <a:t>Other issues</a:t>
            </a:r>
            <a:endParaRPr lang="en-US" sz="3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004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Logging of B1 evidence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TTS keeps ‘Live Data’ only for a limited time → JSON logs (gateway + application) exported right after every test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A LogsOutline.txt with start/end time per task will be kept from Task 3 onwards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Range test logistics (Task 6)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Needs time and approximate location of every packet sent → outdoor session with the MKR on battery and a laptop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To be scheduled in W6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000000"/>
                </a:solidFill>
                <a:latin typeface="Arial"/>
              </a:rPr>
              <a:t>Team workload</a:t>
            </a:r>
          </a:p>
          <a:p>
            <a:pPr marL="685800" indent="-228600">
              <a:spcBef>
                <a:spcPts val="600"/>
              </a:spcBef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"/>
              </a:rPr>
              <a:t>Only 2 members assigned to WP1 → rest of the team supports the performance tests (Tasks 5–7) to secure 03/11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12934</TotalTime>
  <Words>608</Words>
  <Application>Microsoft Office PowerPoint</Application>
  <PresentationFormat>On-screen Show (4:3)</PresentationFormat>
  <Paragraphs>144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Sitka Display Semibold</vt:lpstr>
      <vt:lpstr>Times New Roman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raulm</dc:creator>
  <cp:lastModifiedBy>Raúl Martín</cp:lastModifiedBy>
  <cp:revision>1</cp:revision>
  <dcterms:modified xsi:type="dcterms:W3CDTF">2026-10-20T17:50:10Z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2001-01-09T18:45:53Z</dcterms:created>
  <dc:creator>DMAT</dc:creator>
  <dc:description/>
  <dc:language>en-US</dc:language>
  <cp:lastModifiedBy>Marisa Catalan</cp:lastModifiedBy>
  <cp:lastPrinted>2001-02-01T10:55:37Z</cp:lastPrinted>
  <dcterms:modified xsi:type="dcterms:W3CDTF">2026-09-29T09:27:06Z</dcterms:modified>
  <cp:revision>682</cp:revision>
  <dc:subject/>
  <dc:title>Jornada de Portes Obertes</dc:title>
</cp:coreProperties>
</file>